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9"/>
  </p:notesMasterIdLst>
  <p:sldIdLst>
    <p:sldId id="283" r:id="rId2"/>
    <p:sldId id="257" r:id="rId3"/>
    <p:sldId id="282" r:id="rId4"/>
    <p:sldId id="285" r:id="rId5"/>
    <p:sldId id="278" r:id="rId6"/>
    <p:sldId id="281" r:id="rId7"/>
    <p:sldId id="279" r:id="rId8"/>
    <p:sldId id="290" r:id="rId9"/>
    <p:sldId id="292" r:id="rId10"/>
    <p:sldId id="264" r:id="rId11"/>
    <p:sldId id="286" r:id="rId12"/>
    <p:sldId id="287" r:id="rId13"/>
    <p:sldId id="280" r:id="rId14"/>
    <p:sldId id="293" r:id="rId15"/>
    <p:sldId id="288" r:id="rId16"/>
    <p:sldId id="289"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nvGraphicFramePr>
        <p:xfrm>
          <a:off x="1032387" y="2877788"/>
          <a:ext cx="9754952" cy="2207660"/>
        </p:xfrm>
        <a:graphic>
          <a:graphicData uri="http://schemas.openxmlformats.org/drawingml/2006/table">
            <a:tbl>
              <a:tblPr>
                <a:noFill/>
                <a:tableStyleId>{0AAD8F4D-43EB-41E5-8A38-28AB6DFB1B60}</a:tableStyleId>
              </a:tblPr>
              <a:tblGrid>
                <a:gridCol w="2262613">
                  <a:extLst>
                    <a:ext uri="{9D8B030D-6E8A-4147-A177-3AD203B41FA5}">
                      <a16:colId xmlns:a16="http://schemas.microsoft.com/office/drawing/2014/main" val="20000"/>
                    </a:ext>
                  </a:extLst>
                </a:gridCol>
                <a:gridCol w="2062197">
                  <a:extLst>
                    <a:ext uri="{9D8B030D-6E8A-4147-A177-3AD203B41FA5}">
                      <a16:colId xmlns:a16="http://schemas.microsoft.com/office/drawing/2014/main" val="20001"/>
                    </a:ext>
                  </a:extLst>
                </a:gridCol>
                <a:gridCol w="3062968">
                  <a:extLst>
                    <a:ext uri="{9D8B030D-6E8A-4147-A177-3AD203B41FA5}">
                      <a16:colId xmlns:a16="http://schemas.microsoft.com/office/drawing/2014/main" val="20002"/>
                    </a:ext>
                  </a:extLst>
                </a:gridCol>
                <a:gridCol w="2367174">
                  <a:extLst>
                    <a:ext uri="{9D8B030D-6E8A-4147-A177-3AD203B41FA5}">
                      <a16:colId xmlns:a16="http://schemas.microsoft.com/office/drawing/2014/main" val="20003"/>
                    </a:ext>
                  </a:extLst>
                </a:gridCol>
              </a:tblGrid>
              <a:tr h="991439">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dirty="0">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dirty="0">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216221">
                <a:tc>
                  <a:txBody>
                    <a:bodyPr/>
                    <a:lstStyle/>
                    <a:p>
                      <a:pPr marL="0" marR="0" lvl="0" indent="0" algn="ctr" rtl="0">
                        <a:spcBef>
                          <a:spcPts val="0"/>
                        </a:spcBef>
                        <a:spcAft>
                          <a:spcPts val="0"/>
                        </a:spcAft>
                        <a:buNone/>
                      </a:pPr>
                      <a:endParaRPr lang="en-US" sz="1800" dirty="0"/>
                    </a:p>
                    <a:p>
                      <a:pPr marL="0" marR="0" lvl="0" indent="0" algn="ctr" rtl="0">
                        <a:spcBef>
                          <a:spcPts val="0"/>
                        </a:spcBef>
                        <a:spcAft>
                          <a:spcPts val="0"/>
                        </a:spcAft>
                        <a:buNone/>
                      </a:pPr>
                      <a:r>
                        <a:rPr lang="en-US" sz="1800" dirty="0"/>
                        <a:t>Vaishnavi Dadasaheb Tele</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800" dirty="0"/>
                    </a:p>
                    <a:p>
                      <a:pPr marL="0" marR="0" lvl="0" indent="0" algn="l" rtl="0">
                        <a:spcBef>
                          <a:spcPts val="0"/>
                        </a:spcBef>
                        <a:spcAft>
                          <a:spcPts val="0"/>
                        </a:spcAft>
                        <a:buNone/>
                      </a:pPr>
                      <a:r>
                        <a:rPr lang="en-US" sz="1800" dirty="0"/>
                        <a:t>televaishnavi23@gmail.com </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r>
                        <a:rPr lang="en-US" sz="1800" dirty="0"/>
                        <a:t>9021687268</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1206163" y="1460724"/>
            <a:ext cx="10415565" cy="830997"/>
          </a:xfrm>
          <a:prstGeom prst="rect">
            <a:avLst/>
          </a:prstGeom>
          <a:noFill/>
        </p:spPr>
        <p:txBody>
          <a:bodyPr wrap="square" rtlCol="0">
            <a:spAutoFit/>
          </a:bodyPr>
          <a:lstStyle/>
          <a:p>
            <a:r>
              <a:rPr lang="en-US" sz="2400" b="1" dirty="0"/>
              <a:t>Domain of  Project – </a:t>
            </a:r>
            <a:r>
              <a:rPr lang="en-IN" sz="2400" b="1" dirty="0">
                <a:highlight>
                  <a:srgbClr val="FFFF00"/>
                </a:highlight>
              </a:rPr>
              <a:t>Artificial Intelligence and Machine Learning for 5G Telecommunication Network Optimization</a:t>
            </a:r>
          </a:p>
        </p:txBody>
      </p:sp>
      <p:sp>
        <p:nvSpPr>
          <p:cNvPr id="7" name="TextBox 6"/>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b="1" dirty="0">
                <a:highlight>
                  <a:srgbClr val="FFFF00"/>
                </a:highlight>
              </a:rPr>
              <a:t>AI-Based 5G Network Optimization Advisor</a:t>
            </a:r>
          </a:p>
        </p:txBody>
      </p:sp>
      <p:pic>
        <p:nvPicPr>
          <p:cNvPr id="8" name="Picture 7"/>
          <p:cNvPicPr>
            <a:picLocks noChangeAspect="1"/>
          </p:cNvPicPr>
          <p:nvPr/>
        </p:nvPicPr>
        <p:blipFill>
          <a:blip r:embed="rId3"/>
          <a:srcRect t="17205" b="17205"/>
          <a:stretch/>
        </p:blipFill>
        <p:spPr>
          <a:xfrm>
            <a:off x="3490453" y="3962400"/>
            <a:ext cx="1602658" cy="105205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1" y="1495698"/>
            <a:ext cx="11497941" cy="5570756"/>
          </a:xfrm>
          <a:prstGeom prst="rect">
            <a:avLst/>
          </a:prstGeom>
          <a:noFill/>
        </p:spPr>
        <p:txBody>
          <a:bodyPr wrap="square" rtlCol="0">
            <a:spAutoFit/>
          </a:bodyPr>
          <a:lstStyle/>
          <a:p>
            <a:pPr algn="just" fontAlgn="base"/>
            <a:r>
              <a:rPr lang="en-US" sz="1800" b="1" dirty="0"/>
              <a:t>Problem Statement : </a:t>
            </a:r>
            <a:r>
              <a:rPr lang="en-IN" sz="1800" b="1" dirty="0"/>
              <a:t>AI-Based 5G Network Optimization Advisor</a:t>
            </a:r>
            <a:endParaRPr lang="en-US" sz="1800" b="1" dirty="0"/>
          </a:p>
          <a:p>
            <a:pPr algn="just" fontAlgn="base"/>
            <a:endParaRPr lang="en-US" sz="1800" b="1" dirty="0"/>
          </a:p>
          <a:p>
            <a:pPr algn="just" fontAlgn="base"/>
            <a:r>
              <a:rPr lang="en-US" sz="1800" b="1" dirty="0"/>
              <a:t>The Challenge</a:t>
            </a:r>
            <a:r>
              <a:rPr lang="en-US" sz="1800" dirty="0"/>
              <a:t> </a:t>
            </a:r>
          </a:p>
          <a:p>
            <a:pPr algn="just" fontAlgn="base"/>
            <a:r>
              <a:rPr lang="en-IN" sz="1800" dirty="0"/>
              <a:t>The rapid growth of 5G users and connected devices creates challenges such as network congestion, high latency, uneven resource utilization, and fluctuating network performance. Traditional network monitoring and optimization methods often require manual analysis and may not respond quickly to changing traffic conditions.</a:t>
            </a:r>
          </a:p>
          <a:p>
            <a:pPr algn="just" fontAlgn="base"/>
            <a:r>
              <a:rPr lang="en-US" sz="1800" b="1" dirty="0"/>
              <a:t>The Objective</a:t>
            </a:r>
            <a:r>
              <a:rPr lang="en-US" sz="1800" dirty="0"/>
              <a:t> </a:t>
            </a:r>
          </a:p>
          <a:p>
            <a:pPr algn="just" fontAlgn="base"/>
            <a:r>
              <a:rPr lang="en-IN" sz="1800" dirty="0"/>
              <a:t>To use AI/ML to </a:t>
            </a:r>
            <a:r>
              <a:rPr lang="en-IN" sz="1800" dirty="0" err="1"/>
              <a:t>analyze</a:t>
            </a:r>
            <a:r>
              <a:rPr lang="en-IN" sz="1800" dirty="0"/>
              <a:t> 5G network data, predict congestion, and provide intelligent optimization recommendations. The goal is to improve QoS, reduce latency, and efficiently utilize network resources.</a:t>
            </a:r>
            <a:endParaRPr lang="en-US" sz="1800" dirty="0"/>
          </a:p>
          <a:p>
            <a:pPr algn="just" fontAlgn="base"/>
            <a:r>
              <a:rPr lang="en-US" sz="1800" b="1" dirty="0"/>
              <a:t>⭐ Main Points</a:t>
            </a:r>
          </a:p>
          <a:p>
            <a:pPr lvl="0"/>
            <a:r>
              <a:rPr lang="en-IN" sz="1800" b="1" dirty="0"/>
              <a:t>Collect Network Data</a:t>
            </a:r>
            <a:r>
              <a:rPr lang="en-IN" sz="1800" dirty="0"/>
              <a:t> – Gather traffic, latency, bandwidth, signal strength, and network usage data. </a:t>
            </a:r>
          </a:p>
          <a:p>
            <a:pPr lvl="0"/>
            <a:r>
              <a:rPr lang="en-IN" sz="1800" b="1" dirty="0" err="1"/>
              <a:t>Analyze</a:t>
            </a:r>
            <a:r>
              <a:rPr lang="en-IN" sz="1800" b="1" dirty="0"/>
              <a:t> Performance</a:t>
            </a:r>
            <a:r>
              <a:rPr lang="en-IN" sz="1800" dirty="0"/>
              <a:t> – </a:t>
            </a:r>
            <a:r>
              <a:rPr lang="en-IN" sz="1800" dirty="0" err="1"/>
              <a:t>Analyze</a:t>
            </a:r>
            <a:r>
              <a:rPr lang="en-IN" sz="1800" dirty="0"/>
              <a:t> network conditions and identify performance issues. </a:t>
            </a:r>
          </a:p>
          <a:p>
            <a:pPr lvl="0"/>
            <a:r>
              <a:rPr lang="en-IN" sz="1800" b="1" dirty="0"/>
              <a:t>Detect Congestion</a:t>
            </a:r>
            <a:r>
              <a:rPr lang="en-IN" sz="1800" dirty="0"/>
              <a:t> – Detect overloaded cells, high traffic, and network bottlenecks. </a:t>
            </a:r>
          </a:p>
          <a:p>
            <a:pPr lvl="0"/>
            <a:r>
              <a:rPr lang="en-IN" sz="1800" b="1" dirty="0"/>
              <a:t>Predict Issues</a:t>
            </a:r>
            <a:r>
              <a:rPr lang="en-IN" sz="1800" dirty="0"/>
              <a:t> – Predict future traffic congestion and performance problems using AI/ML. </a:t>
            </a:r>
          </a:p>
          <a:p>
            <a:pPr lvl="0"/>
            <a:r>
              <a:rPr lang="en-IN" sz="1800" b="1" dirty="0"/>
              <a:t>Optimize Resources</a:t>
            </a:r>
            <a:r>
              <a:rPr lang="en-IN" sz="1800" dirty="0"/>
              <a:t> – Recommend efficient bandwidth, spectrum, and resource allocation. </a:t>
            </a:r>
          </a:p>
          <a:p>
            <a:pPr lvl="0"/>
            <a:r>
              <a:rPr lang="en-IN" sz="1800" b="1" dirty="0"/>
              <a:t>Generate Recommendations</a:t>
            </a:r>
            <a:r>
              <a:rPr lang="en-IN" sz="1800" dirty="0"/>
              <a:t> – Provide actionable optimization suggestions to network operators. </a:t>
            </a:r>
          </a:p>
          <a:p>
            <a:pPr lvl="0"/>
            <a:r>
              <a:rPr lang="en-IN" sz="1800" b="1" dirty="0"/>
              <a:t>Monitor Improvements</a:t>
            </a:r>
            <a:r>
              <a:rPr lang="en-IN" sz="1800" dirty="0"/>
              <a:t> – Track QoS, latency, throughput, and overall network performance. </a:t>
            </a:r>
          </a:p>
          <a:p>
            <a:pPr lvl="0"/>
            <a:r>
              <a:rPr lang="en-IN" sz="1800" b="1" dirty="0"/>
              <a:t>Advisor Dashboard</a:t>
            </a:r>
            <a:r>
              <a:rPr lang="en-IN" sz="1800" dirty="0"/>
              <a:t> – Display network status, predictions, and recommendations in an easy-to-understand dashboard. </a:t>
            </a:r>
          </a:p>
          <a:p>
            <a:pPr fontAlgn="base"/>
            <a:endParaRPr lang="en-US" dirty="0"/>
          </a:p>
        </p:txBody>
      </p:sp>
      <p:sp>
        <p:nvSpPr>
          <p:cNvPr id="3" name="TextBox 2"/>
          <p:cNvSpPr txBox="1"/>
          <p:nvPr/>
        </p:nvSpPr>
        <p:spPr>
          <a:xfrm>
            <a:off x="576072" y="776079"/>
            <a:ext cx="7214616" cy="523220"/>
          </a:xfrm>
          <a:prstGeom prst="rect">
            <a:avLst/>
          </a:prstGeom>
          <a:noFill/>
        </p:spPr>
        <p:txBody>
          <a:bodyPr wrap="square" rtlCol="0">
            <a:spAutoFit/>
          </a:bodyPr>
          <a:lstStyle/>
          <a:p>
            <a:r>
              <a:rPr lang="en-US" sz="2800" b="1" dirty="0"/>
              <a:t>Problem Statement -</a:t>
            </a:r>
            <a:endParaRPr lang="en-IN" sz="28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1039856" cy="4185761"/>
          </a:xfrm>
          <a:prstGeom prst="rect">
            <a:avLst/>
          </a:prstGeom>
          <a:noFill/>
        </p:spPr>
        <p:txBody>
          <a:bodyPr wrap="square" rtlCol="0">
            <a:spAutoFit/>
          </a:bodyPr>
          <a:lstStyle/>
          <a:p>
            <a:pPr fontAlgn="base"/>
            <a:endParaRPr lang="en-US" b="1" dirty="0"/>
          </a:p>
          <a:p>
            <a:r>
              <a:rPr lang="en-IN" sz="1800" dirty="0"/>
              <a:t>The </a:t>
            </a:r>
            <a:r>
              <a:rPr lang="en-IN" sz="1800" b="1" dirty="0"/>
              <a:t>AI-Based 5G Network Optimization Advisor</a:t>
            </a:r>
            <a:r>
              <a:rPr lang="en-IN" sz="1800" dirty="0"/>
              <a:t> is a smart system designed to improve the performance, efficiency, and reliability of 5G networks using Artificial Intelligence and Machine Learning. The proposed system collects and </a:t>
            </a:r>
            <a:r>
              <a:rPr lang="en-IN" sz="1800" dirty="0" err="1"/>
              <a:t>analyzes</a:t>
            </a:r>
            <a:r>
              <a:rPr lang="en-IN" sz="1800" dirty="0"/>
              <a:t> important network parameters such as </a:t>
            </a:r>
            <a:r>
              <a:rPr lang="en-IN" sz="1800" b="1" dirty="0"/>
              <a:t>traffic load, bandwidth usage, latency, signal strength, throughput, packet loss, and resource utilization</a:t>
            </a:r>
            <a:r>
              <a:rPr lang="en-IN" sz="1800" dirty="0"/>
              <a:t> from different network cells. AI/ML algorithms </a:t>
            </a:r>
            <a:r>
              <a:rPr lang="en-IN" sz="1800" dirty="0" err="1"/>
              <a:t>analyze</a:t>
            </a:r>
            <a:r>
              <a:rPr lang="en-IN" sz="1800" dirty="0"/>
              <a:t> both historical and real-time data to identify network congestion, overloaded cells, abnormal traffic patterns, and inefficient resource utilization. The system can also </a:t>
            </a:r>
            <a:r>
              <a:rPr lang="en-IN" sz="1800" b="1" dirty="0"/>
              <a:t>predict future congestion and potential network performance issues</a:t>
            </a:r>
            <a:r>
              <a:rPr lang="en-IN" sz="1800" dirty="0"/>
              <a:t> before they significantly affect users. Based on the analysis, the advisor generates intelligent recommendations such as </a:t>
            </a:r>
            <a:r>
              <a:rPr lang="en-IN" sz="1800" b="1" dirty="0"/>
              <a:t>traffic load balancing, bandwidth optimization, resource allocation, and network parameter adjustment</a:t>
            </a:r>
            <a:r>
              <a:rPr lang="en-IN" sz="1800" dirty="0"/>
              <a:t>. A centralized dashboard displays the current network status, detected issues, predicted problems, performance metrics, and recommended actions in an easy-to-understand format. This solution helps network operators make </a:t>
            </a:r>
            <a:r>
              <a:rPr lang="en-IN" sz="1800" b="1" dirty="0"/>
              <a:t>faster, data-driven decisions</a:t>
            </a:r>
            <a:r>
              <a:rPr lang="en-IN" sz="1800" dirty="0"/>
              <a:t>, reduce manual monitoring efforts, improve Quality of Service (QoS), minimize latency and congestion, and achieve more efficient utilization of 5G network resources.</a:t>
            </a:r>
          </a:p>
        </p:txBody>
      </p:sp>
      <p:sp>
        <p:nvSpPr>
          <p:cNvPr id="3" name="TextBox 2"/>
          <p:cNvSpPr txBox="1"/>
          <p:nvPr/>
        </p:nvSpPr>
        <p:spPr>
          <a:xfrm>
            <a:off x="576072" y="772775"/>
            <a:ext cx="7214616" cy="523220"/>
          </a:xfrm>
          <a:prstGeom prst="rect">
            <a:avLst/>
          </a:prstGeom>
          <a:noFill/>
        </p:spPr>
        <p:txBody>
          <a:bodyPr wrap="square" rtlCol="0">
            <a:spAutoFit/>
          </a:bodyPr>
          <a:lstStyle/>
          <a:p>
            <a:r>
              <a:rPr lang="en-US" sz="2800" b="1" dirty="0"/>
              <a:t>Proposed Solution -</a:t>
            </a:r>
            <a:endParaRPr lang="en-IN" sz="28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235975" y="275303"/>
            <a:ext cx="7664442"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p:cNvSpPr txBox="1"/>
          <p:nvPr/>
        </p:nvSpPr>
        <p:spPr>
          <a:xfrm>
            <a:off x="235975" y="658762"/>
            <a:ext cx="11857701" cy="7171194"/>
          </a:xfrm>
          <a:prstGeom prst="rect">
            <a:avLst/>
          </a:prstGeom>
          <a:noFill/>
        </p:spPr>
        <p:txBody>
          <a:bodyPr wrap="square" lIns="91440" tIns="45720" rIns="91440" bIns="45720" rtlCol="0" anchor="t">
            <a:spAutoFit/>
          </a:bodyPr>
          <a:lstStyle/>
          <a:p>
            <a:pPr lvl="0"/>
            <a:r>
              <a:rPr lang="en-IN" sz="1800" b="1" dirty="0"/>
              <a:t>Artificial Intelligence &amp; Machine Learning</a:t>
            </a:r>
            <a:r>
              <a:rPr lang="en-IN" sz="1800" dirty="0"/>
              <a:t> – Traffic prediction, congestion detection, and optimization recommendations. </a:t>
            </a:r>
          </a:p>
          <a:p>
            <a:pPr lvl="0"/>
            <a:endParaRPr lang="en-IN" sz="1800" dirty="0"/>
          </a:p>
          <a:p>
            <a:pPr lvl="0"/>
            <a:r>
              <a:rPr lang="en-IN" sz="1800" b="1" dirty="0"/>
              <a:t>Python</a:t>
            </a:r>
            <a:r>
              <a:rPr lang="en-IN" sz="1800" dirty="0"/>
              <a:t> – Development of AI/ML models and data processing. </a:t>
            </a:r>
          </a:p>
          <a:p>
            <a:pPr lvl="0"/>
            <a:endParaRPr lang="en-IN" sz="1800" dirty="0"/>
          </a:p>
          <a:p>
            <a:pPr lvl="0"/>
            <a:r>
              <a:rPr lang="en-IN" sz="1800" b="1" dirty="0"/>
              <a:t>Pandas &amp; NumPy</a:t>
            </a:r>
            <a:r>
              <a:rPr lang="en-IN" sz="1800" dirty="0"/>
              <a:t> – Network-data processing and analysis. </a:t>
            </a:r>
          </a:p>
          <a:p>
            <a:pPr lvl="0"/>
            <a:endParaRPr lang="en-IN" sz="1800" dirty="0"/>
          </a:p>
          <a:p>
            <a:pPr lvl="0"/>
            <a:r>
              <a:rPr lang="en-IN" sz="1800" b="1" dirty="0"/>
              <a:t>Scikit-learn</a:t>
            </a:r>
            <a:r>
              <a:rPr lang="en-IN" sz="1800" dirty="0"/>
              <a:t> – Machine-learning algorithms for prediction and classification. </a:t>
            </a:r>
          </a:p>
          <a:p>
            <a:pPr lvl="0"/>
            <a:endParaRPr lang="en-IN" sz="1800" dirty="0"/>
          </a:p>
          <a:p>
            <a:pPr lvl="0"/>
            <a:r>
              <a:rPr lang="en-IN" sz="1800" b="1" dirty="0"/>
              <a:t>TensorFlow/</a:t>
            </a:r>
            <a:r>
              <a:rPr lang="en-IN" sz="1800" b="1" dirty="0" err="1"/>
              <a:t>PyTorch</a:t>
            </a:r>
            <a:r>
              <a:rPr lang="en-IN" sz="1800" dirty="0"/>
              <a:t> – Deep-learning models, if required. </a:t>
            </a:r>
          </a:p>
          <a:p>
            <a:pPr lvl="0"/>
            <a:endParaRPr lang="en-IN" sz="1800" dirty="0"/>
          </a:p>
          <a:p>
            <a:pPr lvl="0"/>
            <a:r>
              <a:rPr lang="en-IN" sz="1800" b="1" dirty="0"/>
              <a:t>5G Network Technologies</a:t>
            </a:r>
            <a:r>
              <a:rPr lang="en-IN" sz="1800" dirty="0"/>
              <a:t> – Analysis of latency, bandwidth, throughput, signal strength, and traffic load.</a:t>
            </a:r>
          </a:p>
          <a:p>
            <a:pPr lvl="0"/>
            <a:r>
              <a:rPr lang="en-IN" sz="1800" dirty="0"/>
              <a:t> </a:t>
            </a:r>
          </a:p>
          <a:p>
            <a:pPr lvl="0"/>
            <a:r>
              <a:rPr lang="en-IN" sz="1800" b="1" dirty="0"/>
              <a:t>SQL / MongoDB</a:t>
            </a:r>
            <a:r>
              <a:rPr lang="en-IN" sz="1800" dirty="0"/>
              <a:t> – Storage of network performance data. </a:t>
            </a:r>
          </a:p>
          <a:p>
            <a:pPr lvl="0"/>
            <a:endParaRPr lang="en-IN" sz="1800" dirty="0"/>
          </a:p>
          <a:p>
            <a:pPr lvl="0"/>
            <a:r>
              <a:rPr lang="en-IN" sz="1800" b="1" dirty="0"/>
              <a:t>Flask / </a:t>
            </a:r>
            <a:r>
              <a:rPr lang="en-IN" sz="1800" b="1" dirty="0" err="1"/>
              <a:t>FastAPI</a:t>
            </a:r>
            <a:r>
              <a:rPr lang="en-IN" sz="1800" dirty="0"/>
              <a:t> – Backend API for connecting the AI model with the application. </a:t>
            </a:r>
          </a:p>
          <a:p>
            <a:pPr lvl="0"/>
            <a:endParaRPr lang="en-IN" sz="1800" dirty="0"/>
          </a:p>
          <a:p>
            <a:pPr lvl="0"/>
            <a:r>
              <a:rPr lang="en-IN" sz="1800" b="1" dirty="0"/>
              <a:t>React.js / HTML, CSS, JavaScript</a:t>
            </a:r>
            <a:r>
              <a:rPr lang="en-IN" sz="1800" dirty="0"/>
              <a:t> – Interactive monitoring dashboard. </a:t>
            </a:r>
          </a:p>
          <a:p>
            <a:pPr lvl="0"/>
            <a:endParaRPr lang="en-IN" sz="1800" dirty="0"/>
          </a:p>
          <a:p>
            <a:pPr lvl="0"/>
            <a:r>
              <a:rPr lang="en-IN" sz="1800" b="1" dirty="0"/>
              <a:t>Matplotlib / </a:t>
            </a:r>
            <a:r>
              <a:rPr lang="en-IN" sz="1800" b="1" dirty="0" err="1"/>
              <a:t>Plotly</a:t>
            </a:r>
            <a:r>
              <a:rPr lang="en-IN" sz="1800" dirty="0"/>
              <a:t> – Network-performance visualization and graphs. </a:t>
            </a:r>
          </a:p>
          <a:p>
            <a:pPr lvl="0"/>
            <a:endParaRPr lang="en-IN" sz="1800" dirty="0"/>
          </a:p>
          <a:p>
            <a:pPr lvl="0"/>
            <a:r>
              <a:rPr lang="en-IN" sz="1800" b="1" dirty="0"/>
              <a:t>Cloud/Edge Computing</a:t>
            </a:r>
            <a:r>
              <a:rPr lang="en-IN" sz="1800" dirty="0"/>
              <a:t> – Real-time processing and scalable deployment.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panose="02020603050405020304"/>
              </a:rPr>
              <a:t>Orchestrate component Used -</a:t>
            </a:r>
            <a:endParaRPr sz="2800" b="1" dirty="0">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22787" y="609600"/>
            <a:ext cx="10187155" cy="7055449"/>
          </a:xfrm>
          <a:prstGeom prst="rect">
            <a:avLst/>
          </a:prstGeom>
          <a:noFill/>
        </p:spPr>
        <p:txBody>
          <a:bodyPr wrap="square" rtlCol="0">
            <a:spAutoFit/>
          </a:bodyPr>
          <a:lstStyle/>
          <a:p>
            <a:endParaRPr lang="en-US" dirty="0"/>
          </a:p>
          <a:p>
            <a:pPr lvl="0"/>
            <a:r>
              <a:rPr lang="en-IN" sz="1800" b="1" dirty="0"/>
              <a:t>Data Collection Component</a:t>
            </a:r>
            <a:r>
              <a:rPr lang="en-IN" sz="1800" dirty="0"/>
              <a:t> – Collects 5G network metrics such as traffic, latency, bandwidth, and signal strength. </a:t>
            </a:r>
          </a:p>
          <a:p>
            <a:pPr lvl="0"/>
            <a:endParaRPr lang="en-IN" sz="1800" dirty="0"/>
          </a:p>
          <a:p>
            <a:pPr lvl="0"/>
            <a:r>
              <a:rPr lang="en-IN" sz="1800" b="1" dirty="0"/>
              <a:t>Data Processing Component</a:t>
            </a:r>
            <a:r>
              <a:rPr lang="en-IN" sz="1800" dirty="0"/>
              <a:t> – Cleans and prepares network data for AI/ML analysis. </a:t>
            </a:r>
          </a:p>
          <a:p>
            <a:pPr lvl="0"/>
            <a:endParaRPr lang="en-IN" sz="1800" dirty="0"/>
          </a:p>
          <a:p>
            <a:pPr lvl="0"/>
            <a:r>
              <a:rPr lang="en-IN" sz="1800" b="1" dirty="0"/>
              <a:t>AI/ML Prediction Component</a:t>
            </a:r>
            <a:r>
              <a:rPr lang="en-IN" sz="1800" dirty="0"/>
              <a:t> – Predicts traffic congestion and possible network issues. </a:t>
            </a:r>
          </a:p>
          <a:p>
            <a:pPr lvl="0"/>
            <a:endParaRPr lang="en-IN" sz="1800" dirty="0"/>
          </a:p>
          <a:p>
            <a:pPr lvl="0"/>
            <a:r>
              <a:rPr lang="en-IN" sz="1800" b="1" dirty="0"/>
              <a:t>Network Analysis Component</a:t>
            </a:r>
            <a:r>
              <a:rPr lang="en-IN" sz="1800" dirty="0"/>
              <a:t> – Identifies performance bottlenecks and inefficient resource utilization. </a:t>
            </a:r>
          </a:p>
          <a:p>
            <a:pPr lvl="0"/>
            <a:endParaRPr lang="en-IN" sz="1800" dirty="0"/>
          </a:p>
          <a:p>
            <a:pPr lvl="0"/>
            <a:r>
              <a:rPr lang="en-IN" sz="1800" b="1" dirty="0"/>
              <a:t>Optimization Engine</a:t>
            </a:r>
            <a:r>
              <a:rPr lang="en-IN" sz="1800" dirty="0"/>
              <a:t> – Generates recommendations for bandwidth, resource allocation, and traffic balancing. </a:t>
            </a:r>
          </a:p>
          <a:p>
            <a:pPr lvl="0"/>
            <a:endParaRPr lang="en-IN" sz="1800" dirty="0"/>
          </a:p>
          <a:p>
            <a:pPr lvl="0"/>
            <a:r>
              <a:rPr lang="en-IN" sz="1800" b="1" dirty="0"/>
              <a:t>Recommendation Component</a:t>
            </a:r>
            <a:r>
              <a:rPr lang="en-IN" sz="1800" dirty="0"/>
              <a:t> – Provides actionable suggestions to network operators. </a:t>
            </a:r>
          </a:p>
          <a:p>
            <a:pPr lvl="0"/>
            <a:endParaRPr lang="en-IN" sz="1800" dirty="0"/>
          </a:p>
          <a:p>
            <a:pPr lvl="0"/>
            <a:r>
              <a:rPr lang="en-IN" sz="1800" b="1" dirty="0"/>
              <a:t>Dashboard Component</a:t>
            </a:r>
            <a:r>
              <a:rPr lang="en-IN" sz="1800" dirty="0"/>
              <a:t> – Displays network status, predictions, alerts, and recommendations.</a:t>
            </a:r>
          </a:p>
          <a:p>
            <a:pPr lvl="0"/>
            <a:r>
              <a:rPr lang="en-IN" sz="1800" dirty="0"/>
              <a:t> </a:t>
            </a:r>
          </a:p>
          <a:p>
            <a:pPr lvl="0"/>
            <a:r>
              <a:rPr lang="en-IN" sz="1800" b="1" dirty="0"/>
              <a:t>Database Component</a:t>
            </a:r>
            <a:r>
              <a:rPr lang="en-IN" sz="1800" dirty="0"/>
              <a:t> – Stores historical and real-time network performance data.</a:t>
            </a:r>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panose="02020603050405020304"/>
              </a:rPr>
              <a:t>Agent Instructions Screenshot-</a:t>
            </a:r>
            <a:endParaRPr sz="2800" b="1" dirty="0">
              <a:sym typeface="Times New Roman" panose="02020603050405020304"/>
            </a:endParaRPr>
          </a:p>
        </p:txBody>
      </p:sp>
      <p:pic>
        <p:nvPicPr>
          <p:cNvPr id="4" name="Picture 3"/>
          <p:cNvPicPr>
            <a:picLocks noChangeAspect="1"/>
          </p:cNvPicPr>
          <p:nvPr/>
        </p:nvPicPr>
        <p:blipFill>
          <a:blip r:embed="rId3"/>
          <a:stretch>
            <a:fillRect/>
          </a:stretch>
        </p:blipFill>
        <p:spPr>
          <a:xfrm>
            <a:off x="835742" y="1187355"/>
            <a:ext cx="10793430" cy="51967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81112"/>
            <a:ext cx="7616194" cy="390635"/>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panose="02020603050405020304"/>
              </a:rPr>
              <a:t>Prompt with output Screenshot:</a:t>
            </a:r>
            <a:endParaRPr sz="2800" b="1" dirty="0">
              <a:sym typeface="Times New Roman" panose="02020603050405020304"/>
            </a:endParaRPr>
          </a:p>
        </p:txBody>
      </p:sp>
      <p:pic>
        <p:nvPicPr>
          <p:cNvPr id="4" name="Picture 3"/>
          <p:cNvPicPr>
            <a:picLocks noChangeAspect="1"/>
          </p:cNvPicPr>
          <p:nvPr/>
        </p:nvPicPr>
        <p:blipFill>
          <a:blip r:embed="rId3"/>
          <a:srcRect/>
          <a:stretch/>
        </p:blipFill>
        <p:spPr>
          <a:xfrm>
            <a:off x="950108" y="1120877"/>
            <a:ext cx="9823299" cy="514718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a:sym typeface="Times New Roman" panose="02020603050405020304"/>
              </a:rPr>
              <a:t>Other Applicable Screenshots: </a:t>
            </a:r>
            <a:endParaRPr lang="en-US"/>
          </a:p>
        </p:txBody>
      </p:sp>
      <p:pic>
        <p:nvPicPr>
          <p:cNvPr id="5" name="Picture 4"/>
          <p:cNvPicPr>
            <a:picLocks noChangeAspect="1"/>
          </p:cNvPicPr>
          <p:nvPr/>
        </p:nvPicPr>
        <p:blipFill>
          <a:blip r:embed="rId3"/>
          <a:srcRect/>
          <a:stretch/>
        </p:blipFill>
        <p:spPr>
          <a:xfrm>
            <a:off x="648928" y="1057961"/>
            <a:ext cx="10309123" cy="51845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p:cNvSpPr txBox="1"/>
          <p:nvPr/>
        </p:nvSpPr>
        <p:spPr>
          <a:xfrm>
            <a:off x="621792" y="1167493"/>
            <a:ext cx="7406640" cy="4801314"/>
          </a:xfrm>
          <a:prstGeom prst="rect">
            <a:avLst/>
          </a:prstGeom>
          <a:noFill/>
        </p:spPr>
        <p:txBody>
          <a:bodyPr wrap="square" rtlCol="0">
            <a:spAutoFit/>
          </a:bodyPr>
          <a:lstStyle/>
          <a:p>
            <a:r>
              <a:rPr lang="en-US" dirty="0"/>
              <a:t> </a:t>
            </a:r>
            <a:r>
              <a:rPr lang="en-IN" sz="1800" b="1" dirty="0"/>
              <a:t>Agentic AI</a:t>
            </a:r>
            <a:r>
              <a:rPr lang="en-IN" sz="1800" dirty="0"/>
              <a:t> acts as an intelligent decision-support agent that continuously monitors 5G network conditions, </a:t>
            </a:r>
            <a:r>
              <a:rPr lang="en-IN" sz="1800" dirty="0" err="1"/>
              <a:t>analyzes</a:t>
            </a:r>
            <a:r>
              <a:rPr lang="en-IN" sz="1800" dirty="0"/>
              <a:t> incoming data, detects problems, and decides what optimization actions should be recommended. It can coordinate different components such as data collection, ML prediction, network analysis, and the recommendation engine to provide context-aware solutions.</a:t>
            </a:r>
          </a:p>
          <a:p>
            <a:pPr lvl="0"/>
            <a:r>
              <a:rPr lang="en-IN" sz="1800" b="1" dirty="0"/>
              <a:t>Monitor:</a:t>
            </a:r>
            <a:r>
              <a:rPr lang="en-IN" sz="1800" dirty="0"/>
              <a:t> Continuously monitors network performance. </a:t>
            </a:r>
          </a:p>
          <a:p>
            <a:pPr lvl="0"/>
            <a:r>
              <a:rPr lang="en-IN" sz="1800" b="1" dirty="0" err="1"/>
              <a:t>Analyze</a:t>
            </a:r>
            <a:r>
              <a:rPr lang="en-IN" sz="1800" b="1" dirty="0"/>
              <a:t>:</a:t>
            </a:r>
            <a:r>
              <a:rPr lang="en-IN" sz="1800" dirty="0"/>
              <a:t> Examines traffic, latency, bandwidth, and resource usage. </a:t>
            </a:r>
          </a:p>
          <a:p>
            <a:pPr lvl="0"/>
            <a:r>
              <a:rPr lang="en-IN" sz="1800" b="1" dirty="0"/>
              <a:t>Predict:</a:t>
            </a:r>
            <a:r>
              <a:rPr lang="en-IN" sz="1800" dirty="0"/>
              <a:t> Identifies potential congestion and performance issues. </a:t>
            </a:r>
          </a:p>
          <a:p>
            <a:pPr lvl="0"/>
            <a:r>
              <a:rPr lang="en-IN" sz="1800" b="1" dirty="0"/>
              <a:t>Reason:</a:t>
            </a:r>
            <a:r>
              <a:rPr lang="en-IN" sz="1800" dirty="0"/>
              <a:t> Determines suitable optimization strategies based on network conditions. </a:t>
            </a:r>
          </a:p>
          <a:p>
            <a:pPr lvl="0"/>
            <a:r>
              <a:rPr lang="en-IN" sz="1800" b="1" dirty="0"/>
              <a:t>Recommend:</a:t>
            </a:r>
            <a:r>
              <a:rPr lang="en-IN" sz="1800" dirty="0"/>
              <a:t> Suggests actions such as traffic balancing and resource allocation. </a:t>
            </a:r>
          </a:p>
          <a:p>
            <a:pPr lvl="0"/>
            <a:r>
              <a:rPr lang="en-IN" sz="1800" b="1" dirty="0"/>
              <a:t>Learn:</a:t>
            </a:r>
            <a:r>
              <a:rPr lang="en-IN" sz="1800" dirty="0"/>
              <a:t> Uses historical results and feedback to improve future recommendations. </a:t>
            </a:r>
          </a:p>
          <a:p>
            <a:pPr lvl="0"/>
            <a:r>
              <a:rPr lang="en-IN" sz="1800" b="1" dirty="0"/>
              <a:t>Report:</a:t>
            </a:r>
            <a:r>
              <a:rPr lang="en-IN" sz="1800" dirty="0"/>
              <a:t> Presents insights and recommendations through the dashboard.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p:cNvSpPr txBox="1"/>
          <p:nvPr/>
        </p:nvSpPr>
        <p:spPr>
          <a:xfrm>
            <a:off x="777240" y="715464"/>
            <a:ext cx="10979331" cy="5632311"/>
          </a:xfrm>
          <a:prstGeom prst="rect">
            <a:avLst/>
          </a:prstGeom>
          <a:noFill/>
        </p:spPr>
        <p:txBody>
          <a:bodyPr wrap="square" rtlCol="0">
            <a:spAutoFit/>
          </a:bodyPr>
          <a:lstStyle/>
          <a:p>
            <a:endParaRPr lang="en-IN" sz="1800" dirty="0"/>
          </a:p>
          <a:p>
            <a:pPr marL="342900" lvl="0" indent="-342900">
              <a:buFont typeface="+mj-lt"/>
              <a:buAutoNum type="arabicPeriod"/>
            </a:pPr>
            <a:r>
              <a:rPr lang="en-IN" sz="1800" b="1" dirty="0"/>
              <a:t>Agentic AI-Based Advisor</a:t>
            </a:r>
            <a:r>
              <a:rPr lang="en-IN" sz="1800" dirty="0"/>
              <a:t> – Uses AI agents to </a:t>
            </a:r>
            <a:r>
              <a:rPr lang="en-IN" sz="1800" dirty="0" err="1"/>
              <a:t>analyze</a:t>
            </a:r>
            <a:r>
              <a:rPr lang="en-IN" sz="1800" dirty="0"/>
              <a:t> network conditions and generate context-aware recommendations. </a:t>
            </a:r>
          </a:p>
          <a:p>
            <a:pPr marL="342900" lvl="0" indent="-342900">
              <a:buFont typeface="+mj-lt"/>
              <a:buAutoNum type="arabicPeriod"/>
            </a:pPr>
            <a:endParaRPr lang="en-IN" sz="1800" dirty="0"/>
          </a:p>
          <a:p>
            <a:pPr marL="342900" lvl="0" indent="-342900">
              <a:buFont typeface="+mj-lt"/>
              <a:buAutoNum type="arabicPeriod"/>
            </a:pPr>
            <a:r>
              <a:rPr lang="en-IN" sz="1800" b="1" dirty="0"/>
              <a:t>Predictive Optimization</a:t>
            </a:r>
            <a:r>
              <a:rPr lang="en-IN" sz="1800" dirty="0"/>
              <a:t> – Predicts congestion and performance issues before they significantly affect the network. </a:t>
            </a:r>
          </a:p>
          <a:p>
            <a:pPr marL="342900" lvl="0" indent="-342900">
              <a:buFont typeface="+mj-lt"/>
              <a:buAutoNum type="arabicPeriod"/>
            </a:pPr>
            <a:endParaRPr lang="en-IN" sz="1800" dirty="0"/>
          </a:p>
          <a:p>
            <a:pPr marL="342900" lvl="0" indent="-342900">
              <a:buFont typeface="+mj-lt"/>
              <a:buAutoNum type="arabicPeriod"/>
            </a:pPr>
            <a:r>
              <a:rPr lang="en-IN" sz="1800" b="1" dirty="0"/>
              <a:t>Real-Time Network Analysis</a:t>
            </a:r>
            <a:r>
              <a:rPr lang="en-IN" sz="1800" dirty="0"/>
              <a:t> – Continuously </a:t>
            </a:r>
            <a:r>
              <a:rPr lang="en-IN" sz="1800" dirty="0" err="1"/>
              <a:t>analyzes</a:t>
            </a:r>
            <a:r>
              <a:rPr lang="en-IN" sz="1800" dirty="0"/>
              <a:t> traffic, latency, bandwidth, and resource utilization.</a:t>
            </a:r>
          </a:p>
          <a:p>
            <a:pPr marL="342900" lvl="0" indent="-342900">
              <a:buFont typeface="+mj-lt"/>
              <a:buAutoNum type="arabicPeriod"/>
            </a:pPr>
            <a:endParaRPr lang="en-IN" sz="1800" dirty="0"/>
          </a:p>
          <a:p>
            <a:pPr marL="342900" lvl="0" indent="-342900">
              <a:buFont typeface="+mj-lt"/>
              <a:buAutoNum type="arabicPeriod"/>
            </a:pPr>
            <a:r>
              <a:rPr lang="en-IN" sz="1800" b="1" dirty="0"/>
              <a:t>Actionable Recommendations</a:t>
            </a:r>
            <a:r>
              <a:rPr lang="en-IN" sz="1800" dirty="0"/>
              <a:t> – Suggests specific optimization actions instead of only displaying network statistics. </a:t>
            </a:r>
          </a:p>
          <a:p>
            <a:pPr marL="342900" lvl="0" indent="-342900">
              <a:buFont typeface="+mj-lt"/>
              <a:buAutoNum type="arabicPeriod"/>
            </a:pPr>
            <a:endParaRPr lang="en-IN" sz="1800" dirty="0"/>
          </a:p>
          <a:p>
            <a:pPr marL="342900" lvl="0" indent="-342900">
              <a:buFont typeface="+mj-lt"/>
              <a:buAutoNum type="arabicPeriod"/>
            </a:pPr>
            <a:r>
              <a:rPr lang="en-IN" sz="1800" b="1" dirty="0"/>
              <a:t>Adaptive Learning</a:t>
            </a:r>
            <a:r>
              <a:rPr lang="en-IN" sz="1800" dirty="0"/>
              <a:t> – Uses historical network data and feedback to improve future recommendations. </a:t>
            </a:r>
          </a:p>
          <a:p>
            <a:pPr marL="342900" lvl="0" indent="-342900">
              <a:buFont typeface="+mj-lt"/>
              <a:buAutoNum type="arabicPeriod"/>
            </a:pPr>
            <a:endParaRPr lang="en-IN" sz="1800" dirty="0"/>
          </a:p>
          <a:p>
            <a:pPr marL="342900" lvl="0" indent="-342900">
              <a:buFont typeface="+mj-lt"/>
              <a:buAutoNum type="arabicPeriod"/>
            </a:pPr>
            <a:r>
              <a:rPr lang="en-IN" sz="1800" b="1" dirty="0"/>
              <a:t>Unified Dashboard</a:t>
            </a:r>
            <a:r>
              <a:rPr lang="en-IN" sz="1800" dirty="0"/>
              <a:t> – Provides network status, predictions, alerts, and optimization suggestions in one interface. </a:t>
            </a:r>
          </a:p>
          <a:p>
            <a:pPr marL="342900" lvl="0" indent="-342900">
              <a:buFont typeface="+mj-lt"/>
              <a:buAutoNum type="arabicPeriod"/>
            </a:pPr>
            <a:endParaRPr lang="en-IN" sz="1800" dirty="0"/>
          </a:p>
          <a:p>
            <a:pPr marL="342900" lvl="0" indent="-342900">
              <a:buFont typeface="+mj-lt"/>
              <a:buAutoNum type="arabicPeriod"/>
            </a:pPr>
            <a:r>
              <a:rPr lang="en-IN" sz="1800" b="1" dirty="0"/>
              <a:t>Scalable Architecture</a:t>
            </a:r>
            <a:r>
              <a:rPr lang="en-IN" sz="1800" dirty="0"/>
              <a:t> – Can be extended to multiple 5G cells, network regions, and different network conditions.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Git Hub Link</a:t>
            </a:r>
            <a:endParaRPr sz="2400" b="1">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Please create public </a:t>
            </a:r>
            <a:r>
              <a:rPr lang="en-US" sz="1850" b="0" i="0" u="none" strike="noStrike" cap="none" dirty="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(Enable Add README  button while creating repository) with format – </a:t>
            </a:r>
          </a:p>
          <a:p>
            <a:pPr lvl="0">
              <a:lnSpc>
                <a:spcPct val="162000"/>
              </a:lnSpc>
              <a:buClr>
                <a:srgbClr val="2B3541"/>
              </a:buClr>
              <a:buSzPts val="1850"/>
            </a:pP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Please test and Paste the working  </a:t>
            </a:r>
            <a:r>
              <a:rPr lang="en-US" sz="1850" dirty="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URL –</a:t>
            </a:r>
            <a:r>
              <a:rPr lang="en-US" sz="1850" b="1"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Make sure you have Uploaded following three files into your </a:t>
            </a:r>
            <a:r>
              <a:rPr lang="en-US" sz="1850" b="1" dirty="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1"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a:t>
            </a:r>
            <a:br>
              <a:rPr lang="en-US" sz="1850" dirty="0">
                <a:latin typeface="Times New Roman" panose="02020603050405020304"/>
                <a:ea typeface="Times New Roman" panose="02020603050405020304"/>
                <a:cs typeface="Times New Roman" panose="02020603050405020304"/>
              </a:rPr>
            </a:b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1) </a:t>
            </a:r>
            <a:r>
              <a:rPr lang="en-US" sz="1850" dirty="0" err="1">
                <a:solidFill>
                  <a:srgbClr val="2B3541"/>
                </a:solidFill>
                <a:latin typeface="Times New Roman" panose="02020603050405020304"/>
                <a:ea typeface="Times New Roman" panose="02020603050405020304"/>
                <a:cs typeface="Times New Roman" panose="02020603050405020304"/>
                <a:sym typeface="Times New Roman" panose="02020603050405020304"/>
              </a:rPr>
              <a:t>app.json</a:t>
            </a: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file , 2) yourproblemstatement.pdf file  3) your projectpresntation.pptx file 4)any other files </a:t>
            </a:r>
            <a:endParaRPr lang="en-US" sz="1850" dirty="0">
              <a:solidFill>
                <a:srgbClr val="2B3541"/>
              </a:solidFill>
              <a:latin typeface="Times New Roman" panose="02020603050405020304"/>
              <a:ea typeface="Times New Roman" panose="02020603050405020304"/>
              <a:cs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800" b="1" dirty="0">
                <a:sym typeface="Times New Roman" panose="02020603050405020304"/>
              </a:rPr>
              <a:t>Future Scope </a:t>
            </a:r>
            <a:endParaRPr sz="2800" b="1" dirty="0">
              <a:sym typeface="Times New Roman" panose="02020603050405020304"/>
            </a:endParaRPr>
          </a:p>
        </p:txBody>
      </p:sp>
      <p:sp>
        <p:nvSpPr>
          <p:cNvPr id="279" name="Google Shape;279;p18"/>
          <p:cNvSpPr/>
          <p:nvPr/>
        </p:nvSpPr>
        <p:spPr>
          <a:xfrm>
            <a:off x="1218724" y="1124746"/>
            <a:ext cx="9999882" cy="5197395"/>
          </a:xfrm>
          <a:prstGeom prst="rect">
            <a:avLst/>
          </a:prstGeom>
          <a:noFill/>
          <a:ln>
            <a:noFill/>
          </a:ln>
        </p:spPr>
        <p:txBody>
          <a:bodyPr spcFirstLastPara="1" wrap="square" lIns="0" tIns="0" rIns="0" bIns="0" anchor="t" anchorCtr="0">
            <a:noAutofit/>
          </a:bodyPr>
          <a:lstStyle/>
          <a:p>
            <a:pPr marL="457200" lvl="0" indent="-457200">
              <a:buFont typeface="+mj-lt"/>
              <a:buAutoNum type="arabicPeriod"/>
            </a:pPr>
            <a:r>
              <a:rPr lang="en-IN" sz="2000" b="1" dirty="0"/>
              <a:t>Autonomous Network Optimization</a:t>
            </a:r>
            <a:r>
              <a:rPr lang="en-IN" sz="2000" dirty="0"/>
              <a:t> – Enable AI agents to automatically apply approved optimization actions. </a:t>
            </a:r>
          </a:p>
          <a:p>
            <a:pPr marL="457200" lvl="0" indent="-457200">
              <a:buFont typeface="+mj-lt"/>
              <a:buAutoNum type="arabicPeriod"/>
            </a:pPr>
            <a:r>
              <a:rPr lang="en-IN" sz="2000" b="1" dirty="0"/>
              <a:t>6G Network Integration</a:t>
            </a:r>
            <a:r>
              <a:rPr lang="en-IN" sz="2000" dirty="0"/>
              <a:t> – Extend the system to support future 6G technologies and networks. </a:t>
            </a:r>
          </a:p>
          <a:p>
            <a:pPr marL="457200" lvl="0" indent="-457200">
              <a:buFont typeface="+mj-lt"/>
              <a:buAutoNum type="arabicPeriod"/>
            </a:pPr>
            <a:r>
              <a:rPr lang="en-IN" sz="2000" b="1" dirty="0"/>
              <a:t>Advanced Traffic Prediction</a:t>
            </a:r>
            <a:r>
              <a:rPr lang="en-IN" sz="2000" dirty="0"/>
              <a:t> – Improve prediction of congestion and network demand using advanced AI models. </a:t>
            </a:r>
          </a:p>
          <a:p>
            <a:pPr marL="457200" lvl="0" indent="-457200">
              <a:buFont typeface="+mj-lt"/>
              <a:buAutoNum type="arabicPeriod"/>
            </a:pPr>
            <a:r>
              <a:rPr lang="en-IN" sz="2000" b="1" dirty="0"/>
              <a:t>Edge AI Integration</a:t>
            </a:r>
            <a:r>
              <a:rPr lang="en-IN" sz="2000" dirty="0"/>
              <a:t> – Perform AI processing closer to users for faster decision-making and lower latency. </a:t>
            </a:r>
          </a:p>
          <a:p>
            <a:pPr marL="457200" lvl="0" indent="-457200">
              <a:buFont typeface="+mj-lt"/>
              <a:buAutoNum type="arabicPeriod"/>
            </a:pPr>
            <a:r>
              <a:rPr lang="en-IN" sz="2000" b="1" dirty="0"/>
              <a:t>AI-Based Security</a:t>
            </a:r>
            <a:r>
              <a:rPr lang="en-IN" sz="2000" dirty="0"/>
              <a:t> – Detect abnormal network </a:t>
            </a:r>
            <a:r>
              <a:rPr lang="en-IN" sz="2000" dirty="0" err="1"/>
              <a:t>behavior</a:t>
            </a:r>
            <a:r>
              <a:rPr lang="en-IN" sz="2000" dirty="0"/>
              <a:t> and potential cybersecurity threats. </a:t>
            </a:r>
          </a:p>
          <a:p>
            <a:pPr marL="457200" lvl="0" indent="-457200">
              <a:buFont typeface="+mj-lt"/>
              <a:buAutoNum type="arabicPeriod"/>
            </a:pPr>
            <a:r>
              <a:rPr lang="en-IN" sz="2000" b="1" dirty="0"/>
              <a:t>IoT &amp; Smart City Support</a:t>
            </a:r>
            <a:r>
              <a:rPr lang="en-IN" sz="2000" dirty="0"/>
              <a:t> – Optimize networks supporting large numbers of IoT and smart-city devices. </a:t>
            </a:r>
          </a:p>
          <a:p>
            <a:pPr marL="457200" lvl="0" indent="-457200">
              <a:buFont typeface="+mj-lt"/>
              <a:buAutoNum type="arabicPeriod"/>
            </a:pPr>
            <a:r>
              <a:rPr lang="en-IN" sz="2000" b="1" dirty="0"/>
              <a:t>Cloud-Native Deployment</a:t>
            </a:r>
            <a:r>
              <a:rPr lang="en-IN" sz="2000" dirty="0"/>
              <a:t> – Scale the advisor across multiple network regions using cloud infrastructure. </a:t>
            </a:r>
          </a:p>
          <a:p>
            <a:pPr marL="457200" lvl="0" indent="-457200">
              <a:buFont typeface="+mj-lt"/>
              <a:buAutoNum type="arabicPeriod"/>
            </a:pPr>
            <a:r>
              <a:rPr lang="en-IN" sz="2000" b="1" dirty="0"/>
              <a:t>Continuous Learning</a:t>
            </a:r>
            <a:r>
              <a:rPr lang="en-IN" sz="2000" dirty="0"/>
              <a:t> – Improve recommendations using real-time network feedback and historical data.</a:t>
            </a: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378400"/>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rcRect/>
          <a:stretch/>
        </p:blipFill>
        <p:spPr>
          <a:xfrm>
            <a:off x="696036" y="1008738"/>
            <a:ext cx="10058400" cy="47030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p>
          <a:p>
            <a:pPr algn="ctr"/>
            <a:endParaRPr lang="en-US"/>
          </a:p>
        </p:txBody>
      </p:sp>
      <p:sp>
        <p:nvSpPr>
          <p:cNvPr id="3" name="TextBox 2"/>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dirty="0"/>
              <a:t> </a:t>
            </a:r>
          </a:p>
        </p:txBody>
      </p:sp>
      <p:pic>
        <p:nvPicPr>
          <p:cNvPr id="8" name="Picture 7" descr="C:/Users/saksh/Downloads/WhatsApp Image 2026-09-22 at 9.26.56 PM.jpegWhatsApp Image 2026-09-22 at 9.26.56 PM"/>
          <p:cNvPicPr>
            <a:picLocks noChangeAspect="1"/>
          </p:cNvPicPr>
          <p:nvPr/>
        </p:nvPicPr>
        <p:blipFill>
          <a:blip r:embed="rId2"/>
          <a:srcRect t="5811" b="5811"/>
          <a:stretch>
            <a:fillRect/>
          </a:stretch>
        </p:blipFill>
        <p:spPr>
          <a:xfrm>
            <a:off x="2070919" y="951671"/>
            <a:ext cx="8050161" cy="55054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sp>
        <p:nvSpPr>
          <p:cNvPr id="6" name="TextBox 5"/>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t>IBM BOB Certificate</a:t>
            </a:r>
          </a:p>
        </p:txBody>
      </p:sp>
      <p:pic>
        <p:nvPicPr>
          <p:cNvPr id="10" name="Picture 9" descr="C:/Users/saksh/Downloads/WhatsApp Image 2026-09-22 at 9.25.23 PM.jpegWhatsApp Image 2026-09-22 at 9.25.23 PM"/>
          <p:cNvPicPr>
            <a:picLocks noChangeAspect="1"/>
          </p:cNvPicPr>
          <p:nvPr/>
        </p:nvPicPr>
        <p:blipFill>
          <a:blip r:embed="rId2"/>
          <a:srcRect t="6840" b="6840"/>
          <a:stretch>
            <a:fillRect/>
          </a:stretch>
        </p:blipFill>
        <p:spPr>
          <a:xfrm>
            <a:off x="1653540" y="1319530"/>
            <a:ext cx="8201660" cy="47447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275</TotalTime>
  <Words>1205</Words>
  <Application>Microsoft Office PowerPoint</Application>
  <PresentationFormat>Widescreen</PresentationFormat>
  <Paragraphs>131</Paragraphs>
  <Slides>17</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Vaishnavi Tele</cp:lastModifiedBy>
  <cp:revision>114</cp:revision>
  <dcterms:created xsi:type="dcterms:W3CDTF">2025-07-08T05:06:00Z</dcterms:created>
  <dcterms:modified xsi:type="dcterms:W3CDTF">2026-09-23T17:23:54Z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682BF5466BA443A79F33F0831903DDA6_13</vt:lpwstr>
  </property>
</Properties>
</file>